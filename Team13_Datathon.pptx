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99_CDED24E3.xml" ContentType="application/vnd.ms-powerpoint.comments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409" r:id="rId3"/>
    <p:sldId id="411" r:id="rId4"/>
    <p:sldId id="413" r:id="rId5"/>
    <p:sldId id="41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D120670-1F4D-F9AD-0B34-95B11B63EFFB}" name="Das, Shreya D." initials="SD" userId="S::shreya.d.das@accenture.com::1220a010-a19a-4523-b618-9807efc794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C802F3-CDDC-4A01-BE25-06445E694F53}" v="332" dt="2025-06-10T12:15:43.7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501" autoAdjust="0"/>
  </p:normalViewPr>
  <p:slideViewPr>
    <p:cSldViewPr snapToGrid="0">
      <p:cViewPr varScale="1">
        <p:scale>
          <a:sx n="47" d="100"/>
          <a:sy n="47" d="100"/>
        </p:scale>
        <p:origin x="14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modernComment_199_CDED24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26291D7-D10B-44A3-A6CD-CBD88DB64637}" authorId="{0D120670-1F4D-F9AD-0B34-95B11B63EFFB}" status="resolved" created="2025-05-23T14:30:08.922">
    <pc:sldMkLst xmlns:pc="http://schemas.microsoft.com/office/powerpoint/2013/main/command">
      <pc:docMk/>
      <pc:sldMk cId="342839528" sldId="395"/>
    </pc:sldMkLst>
    <p188:txBody>
      <a:bodyPr/>
      <a:lstStyle/>
      <a:p>
        <a:r>
          <a:rPr lang="en-GB"/>
          <a:t>[@Wu, Cathy] add a picture on the side, too much text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3FC5BE-BEDA-46E5-8122-B810223BBE5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EFEACD83-66BA-4BEB-ABF7-B7B3CA491B05}">
      <dgm:prSet phldrT="[Text]"/>
      <dgm:spPr/>
      <dgm:t>
        <a:bodyPr/>
        <a:lstStyle/>
        <a:p>
          <a:r>
            <a:rPr lang="en-GB" b="1" dirty="0">
              <a:latin typeface="Graphik" panose="020B0503030202060203" pitchFamily="34" charset="0"/>
            </a:rPr>
            <a:t>Highest in Constructor Championship</a:t>
          </a:r>
        </a:p>
      </dgm:t>
    </dgm:pt>
    <dgm:pt modelId="{14FE2F29-F11F-4800-AD25-7C325C4DAE1F}" type="parTrans" cxnId="{31EB10D0-C7E6-4C80-9ED9-3317A7DC0C4D}">
      <dgm:prSet/>
      <dgm:spPr/>
      <dgm:t>
        <a:bodyPr/>
        <a:lstStyle/>
        <a:p>
          <a:endParaRPr lang="en-GB"/>
        </a:p>
      </dgm:t>
    </dgm:pt>
    <dgm:pt modelId="{474B3A28-C379-4DE8-8A95-D66DBD0E2E35}" type="sibTrans" cxnId="{31EB10D0-C7E6-4C80-9ED9-3317A7DC0C4D}">
      <dgm:prSet/>
      <dgm:spPr/>
      <dgm:t>
        <a:bodyPr/>
        <a:lstStyle/>
        <a:p>
          <a:endParaRPr lang="en-GB"/>
        </a:p>
      </dgm:t>
    </dgm:pt>
    <dgm:pt modelId="{528445CF-302C-43EC-8AFE-128FB3D7E2EF}">
      <dgm:prSet phldrT="[Text]"/>
      <dgm:spPr/>
      <dgm:t>
        <a:bodyPr/>
        <a:lstStyle/>
        <a:p>
          <a:r>
            <a:rPr lang="en-GB" b="1" dirty="0">
              <a:latin typeface="Graphik" panose="020B0503030202060203" pitchFamily="34" charset="0"/>
            </a:rPr>
            <a:t>Highest in Driver Championship</a:t>
          </a:r>
        </a:p>
      </dgm:t>
    </dgm:pt>
    <dgm:pt modelId="{A64D32EB-D615-434B-B385-B1B2B9C07249}" type="parTrans" cxnId="{9DA5CAEE-7A61-4476-9F46-36F76461BBCC}">
      <dgm:prSet/>
      <dgm:spPr/>
      <dgm:t>
        <a:bodyPr/>
        <a:lstStyle/>
        <a:p>
          <a:endParaRPr lang="en-GB"/>
        </a:p>
      </dgm:t>
    </dgm:pt>
    <dgm:pt modelId="{97928BCD-A80B-471F-9D0D-72421A12191B}" type="sibTrans" cxnId="{9DA5CAEE-7A61-4476-9F46-36F76461BBCC}">
      <dgm:prSet/>
      <dgm:spPr/>
      <dgm:t>
        <a:bodyPr/>
        <a:lstStyle/>
        <a:p>
          <a:endParaRPr lang="en-GB"/>
        </a:p>
      </dgm:t>
    </dgm:pt>
    <dgm:pt modelId="{AAE14DDA-DF85-4478-985A-4B93DD10655C}">
      <dgm:prSet phldrT="[Text]"/>
      <dgm:spPr/>
      <dgm:t>
        <a:bodyPr/>
        <a:lstStyle/>
        <a:p>
          <a:r>
            <a:rPr lang="en-GB" b="1" dirty="0">
              <a:latin typeface="Graphik" panose="020B0503030202060203" pitchFamily="34" charset="0"/>
            </a:rPr>
            <a:t>Lowest in Cost Championship **</a:t>
          </a:r>
        </a:p>
      </dgm:t>
    </dgm:pt>
    <dgm:pt modelId="{3D87A0B3-D66B-42B8-B4DF-8C9FA2297FB2}" type="parTrans" cxnId="{4B40B3DC-53B3-4B17-B60C-7CFFBE392E27}">
      <dgm:prSet/>
      <dgm:spPr/>
      <dgm:t>
        <a:bodyPr/>
        <a:lstStyle/>
        <a:p>
          <a:endParaRPr lang="en-GB"/>
        </a:p>
      </dgm:t>
    </dgm:pt>
    <dgm:pt modelId="{87ADC82D-0955-465A-ABB0-ACFBFEC01791}" type="sibTrans" cxnId="{4B40B3DC-53B3-4B17-B60C-7CFFBE392E27}">
      <dgm:prSet/>
      <dgm:spPr/>
      <dgm:t>
        <a:bodyPr/>
        <a:lstStyle/>
        <a:p>
          <a:endParaRPr lang="en-GB"/>
        </a:p>
      </dgm:t>
    </dgm:pt>
    <dgm:pt modelId="{256C718F-CA7E-4923-A0D6-C3BFF76D0869}" type="pres">
      <dgm:prSet presAssocID="{9C3FC5BE-BEDA-46E5-8122-B810223BBE5D}" presName="diagram" presStyleCnt="0">
        <dgm:presLayoutVars>
          <dgm:dir/>
          <dgm:resizeHandles val="exact"/>
        </dgm:presLayoutVars>
      </dgm:prSet>
      <dgm:spPr/>
    </dgm:pt>
    <dgm:pt modelId="{395C41A8-0B7C-4B6A-ADF3-6A38A2A58C21}" type="pres">
      <dgm:prSet presAssocID="{EFEACD83-66BA-4BEB-ABF7-B7B3CA491B05}" presName="node" presStyleLbl="node1" presStyleIdx="0" presStyleCnt="3" custLinFactNeighborX="977" custLinFactNeighborY="-30395">
        <dgm:presLayoutVars>
          <dgm:bulletEnabled val="1"/>
        </dgm:presLayoutVars>
      </dgm:prSet>
      <dgm:spPr/>
    </dgm:pt>
    <dgm:pt modelId="{7DD36D36-5EE4-4129-AE94-1BF6E283425C}" type="pres">
      <dgm:prSet presAssocID="{474B3A28-C379-4DE8-8A95-D66DBD0E2E35}" presName="sibTrans" presStyleCnt="0"/>
      <dgm:spPr/>
    </dgm:pt>
    <dgm:pt modelId="{776FA16D-ED52-4D98-A00D-DF2E514794D9}" type="pres">
      <dgm:prSet presAssocID="{528445CF-302C-43EC-8AFE-128FB3D7E2EF}" presName="node" presStyleLbl="node1" presStyleIdx="1" presStyleCnt="3" custLinFactNeighborX="977" custLinFactNeighborY="-30395">
        <dgm:presLayoutVars>
          <dgm:bulletEnabled val="1"/>
        </dgm:presLayoutVars>
      </dgm:prSet>
      <dgm:spPr/>
    </dgm:pt>
    <dgm:pt modelId="{07444BEC-3C74-41BF-9C0F-E0A340B80550}" type="pres">
      <dgm:prSet presAssocID="{97928BCD-A80B-471F-9D0D-72421A12191B}" presName="sibTrans" presStyleCnt="0"/>
      <dgm:spPr/>
    </dgm:pt>
    <dgm:pt modelId="{8732FA41-CB13-462E-BA16-AF1158CF0866}" type="pres">
      <dgm:prSet presAssocID="{AAE14DDA-DF85-4478-985A-4B93DD10655C}" presName="node" presStyleLbl="node1" presStyleIdx="2" presStyleCnt="3">
        <dgm:presLayoutVars>
          <dgm:bulletEnabled val="1"/>
        </dgm:presLayoutVars>
      </dgm:prSet>
      <dgm:spPr/>
    </dgm:pt>
  </dgm:ptLst>
  <dgm:cxnLst>
    <dgm:cxn modelId="{9D01325B-F2D4-4793-808A-5DA541BD7454}" type="presOf" srcId="{528445CF-302C-43EC-8AFE-128FB3D7E2EF}" destId="{776FA16D-ED52-4D98-A00D-DF2E514794D9}" srcOrd="0" destOrd="0" presId="urn:microsoft.com/office/officeart/2005/8/layout/default"/>
    <dgm:cxn modelId="{0A0D1D45-997E-44DC-A39C-E7B631CBE630}" type="presOf" srcId="{9C3FC5BE-BEDA-46E5-8122-B810223BBE5D}" destId="{256C718F-CA7E-4923-A0D6-C3BFF76D0869}" srcOrd="0" destOrd="0" presId="urn:microsoft.com/office/officeart/2005/8/layout/default"/>
    <dgm:cxn modelId="{533813BA-A8FA-4A62-92D5-CED7960493F2}" type="presOf" srcId="{EFEACD83-66BA-4BEB-ABF7-B7B3CA491B05}" destId="{395C41A8-0B7C-4B6A-ADF3-6A38A2A58C21}" srcOrd="0" destOrd="0" presId="urn:microsoft.com/office/officeart/2005/8/layout/default"/>
    <dgm:cxn modelId="{31EB10D0-C7E6-4C80-9ED9-3317A7DC0C4D}" srcId="{9C3FC5BE-BEDA-46E5-8122-B810223BBE5D}" destId="{EFEACD83-66BA-4BEB-ABF7-B7B3CA491B05}" srcOrd="0" destOrd="0" parTransId="{14FE2F29-F11F-4800-AD25-7C325C4DAE1F}" sibTransId="{474B3A28-C379-4DE8-8A95-D66DBD0E2E35}"/>
    <dgm:cxn modelId="{4B40B3DC-53B3-4B17-B60C-7CFFBE392E27}" srcId="{9C3FC5BE-BEDA-46E5-8122-B810223BBE5D}" destId="{AAE14DDA-DF85-4478-985A-4B93DD10655C}" srcOrd="2" destOrd="0" parTransId="{3D87A0B3-D66B-42B8-B4DF-8C9FA2297FB2}" sibTransId="{87ADC82D-0955-465A-ABB0-ACFBFEC01791}"/>
    <dgm:cxn modelId="{9DA5CAEE-7A61-4476-9F46-36F76461BBCC}" srcId="{9C3FC5BE-BEDA-46E5-8122-B810223BBE5D}" destId="{528445CF-302C-43EC-8AFE-128FB3D7E2EF}" srcOrd="1" destOrd="0" parTransId="{A64D32EB-D615-434B-B385-B1B2B9C07249}" sibTransId="{97928BCD-A80B-471F-9D0D-72421A12191B}"/>
    <dgm:cxn modelId="{0661BDFE-B5B6-46A0-BD27-B444EF313E43}" type="presOf" srcId="{AAE14DDA-DF85-4478-985A-4B93DD10655C}" destId="{8732FA41-CB13-462E-BA16-AF1158CF0866}" srcOrd="0" destOrd="0" presId="urn:microsoft.com/office/officeart/2005/8/layout/default"/>
    <dgm:cxn modelId="{BF5F5AF8-FF23-4926-9891-B5E32CCAD0F9}" type="presParOf" srcId="{256C718F-CA7E-4923-A0D6-C3BFF76D0869}" destId="{395C41A8-0B7C-4B6A-ADF3-6A38A2A58C21}" srcOrd="0" destOrd="0" presId="urn:microsoft.com/office/officeart/2005/8/layout/default"/>
    <dgm:cxn modelId="{B8C7842F-7CB2-46FA-8742-3722EE6E457E}" type="presParOf" srcId="{256C718F-CA7E-4923-A0D6-C3BFF76D0869}" destId="{7DD36D36-5EE4-4129-AE94-1BF6E283425C}" srcOrd="1" destOrd="0" presId="urn:microsoft.com/office/officeart/2005/8/layout/default"/>
    <dgm:cxn modelId="{728D4E80-BF66-4842-9220-5A46B270705D}" type="presParOf" srcId="{256C718F-CA7E-4923-A0D6-C3BFF76D0869}" destId="{776FA16D-ED52-4D98-A00D-DF2E514794D9}" srcOrd="2" destOrd="0" presId="urn:microsoft.com/office/officeart/2005/8/layout/default"/>
    <dgm:cxn modelId="{55FCBA3E-0901-423A-ABB7-905425BBB8E5}" type="presParOf" srcId="{256C718F-CA7E-4923-A0D6-C3BFF76D0869}" destId="{07444BEC-3C74-41BF-9C0F-E0A340B80550}" srcOrd="3" destOrd="0" presId="urn:microsoft.com/office/officeart/2005/8/layout/default"/>
    <dgm:cxn modelId="{1C0466A1-9174-4126-9B2F-A8D4DC9045A9}" type="presParOf" srcId="{256C718F-CA7E-4923-A0D6-C3BFF76D0869}" destId="{8732FA41-CB13-462E-BA16-AF1158CF086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5C41A8-0B7C-4B6A-ADF3-6A38A2A58C21}">
      <dsp:nvSpPr>
        <dsp:cNvPr id="0" name=""/>
        <dsp:cNvSpPr/>
      </dsp:nvSpPr>
      <dsp:spPr>
        <a:xfrm>
          <a:off x="1780721" y="0"/>
          <a:ext cx="3342605" cy="200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 dirty="0">
              <a:latin typeface="Graphik" panose="020B0503030202060203" pitchFamily="34" charset="0"/>
            </a:rPr>
            <a:t>Highest in Constructor Championship</a:t>
          </a:r>
        </a:p>
      </dsp:txBody>
      <dsp:txXfrm>
        <a:off x="1780721" y="0"/>
        <a:ext cx="3342605" cy="2005563"/>
      </dsp:txXfrm>
    </dsp:sp>
    <dsp:sp modelId="{776FA16D-ED52-4D98-A00D-DF2E514794D9}">
      <dsp:nvSpPr>
        <dsp:cNvPr id="0" name=""/>
        <dsp:cNvSpPr/>
      </dsp:nvSpPr>
      <dsp:spPr>
        <a:xfrm>
          <a:off x="5457587" y="0"/>
          <a:ext cx="3342605" cy="200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 dirty="0">
              <a:latin typeface="Graphik" panose="020B0503030202060203" pitchFamily="34" charset="0"/>
            </a:rPr>
            <a:t>Highest in Driver Championship</a:t>
          </a:r>
        </a:p>
      </dsp:txBody>
      <dsp:txXfrm>
        <a:off x="5457587" y="0"/>
        <a:ext cx="3342605" cy="2005563"/>
      </dsp:txXfrm>
    </dsp:sp>
    <dsp:sp modelId="{8732FA41-CB13-462E-BA16-AF1158CF0866}">
      <dsp:nvSpPr>
        <dsp:cNvPr id="0" name=""/>
        <dsp:cNvSpPr/>
      </dsp:nvSpPr>
      <dsp:spPr>
        <a:xfrm>
          <a:off x="3586497" y="2342799"/>
          <a:ext cx="3342605" cy="200556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300" b="1" kern="1200" dirty="0">
              <a:latin typeface="Graphik" panose="020B0503030202060203" pitchFamily="34" charset="0"/>
            </a:rPr>
            <a:t>Lowest in Cost Championship **</a:t>
          </a:r>
        </a:p>
      </dsp:txBody>
      <dsp:txXfrm>
        <a:off x="3586497" y="2342799"/>
        <a:ext cx="3342605" cy="20055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2D7D2-10F1-4F8B-8359-1075BB4446F6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6610E9-CA85-43F1-A368-B14237E905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5766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*Some other goals include not breaching cost caps, getting more sponsors, etc. F1 is equal part a sport and a business. In the scope of this </a:t>
            </a:r>
            <a:r>
              <a:rPr lang="en-GB" dirty="0" err="1"/>
              <a:t>datathon</a:t>
            </a:r>
            <a:r>
              <a:rPr lang="en-GB" dirty="0"/>
              <a:t>, we focus on performance based goals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GB" dirty="0"/>
              <a:t>** If you’re one of the richer teams like Mercedes, </a:t>
            </a:r>
            <a:r>
              <a:rPr lang="en-GB" dirty="0" err="1"/>
              <a:t>Redbull</a:t>
            </a:r>
            <a:r>
              <a:rPr lang="en-GB" dirty="0"/>
              <a:t> and Ferrari, you can afford to </a:t>
            </a:r>
            <a:r>
              <a:rPr lang="en-GB" dirty="0" err="1"/>
              <a:t>slurge</a:t>
            </a:r>
            <a:r>
              <a:rPr lang="en-GB" dirty="0"/>
              <a:t> a bit more on your upgrades and repairs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610E9-CA85-43F1-A368-B14237E9058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5319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6610E9-CA85-43F1-A368-B14237E905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474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6538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272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912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3623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4910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1627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556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73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687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8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110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086D507-2415-4604-8064-8E747203A561}" type="datetimeFigureOut">
              <a:rPr lang="en-GB" smtClean="0"/>
              <a:t>27/06/2025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62FE62D0-D39A-43D2-95E2-009CFAF608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79980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microsoft.com/office/2018/10/relationships/comments" Target="../comments/modernComment_199_CDED24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3679-CD2F-3860-7CC2-BFAD14F72F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13 - </a:t>
            </a:r>
            <a:r>
              <a:rPr lang="en-GB" dirty="0" err="1"/>
              <a:t>Datathon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D6CD5C-77E2-8C54-7408-66D730DCA3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551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80344-F0C2-42E4-6A49-58BBD17E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8A66FD-8FB0-D196-CF18-7B5D785657EE}"/>
              </a:ext>
            </a:extLst>
          </p:cNvPr>
          <p:cNvSpPr/>
          <p:nvPr/>
        </p:nvSpPr>
        <p:spPr>
          <a:xfrm rot="1392916">
            <a:off x="532052" y="6283055"/>
            <a:ext cx="772121" cy="863911"/>
          </a:xfrm>
          <a:custGeom>
            <a:avLst/>
            <a:gdLst/>
            <a:ahLst/>
            <a:cxnLst/>
            <a:rect l="l" t="t" r="r" b="b"/>
            <a:pathLst>
              <a:path w="1158181" h="1295867">
                <a:moveTo>
                  <a:pt x="0" y="0"/>
                </a:moveTo>
                <a:lnTo>
                  <a:pt x="1158181" y="0"/>
                </a:lnTo>
                <a:lnTo>
                  <a:pt x="1158181" y="1295867"/>
                </a:lnTo>
                <a:lnTo>
                  <a:pt x="0" y="12958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8227C1A-5337-E28C-1F5D-36A2F2133A70}"/>
              </a:ext>
            </a:extLst>
          </p:cNvPr>
          <p:cNvSpPr/>
          <p:nvPr/>
        </p:nvSpPr>
        <p:spPr>
          <a:xfrm rot="1558470">
            <a:off x="10456445" y="6217667"/>
            <a:ext cx="752867" cy="799859"/>
          </a:xfrm>
          <a:custGeom>
            <a:avLst/>
            <a:gdLst/>
            <a:ahLst/>
            <a:cxnLst/>
            <a:rect l="l" t="t" r="r" b="b"/>
            <a:pathLst>
              <a:path w="1129301" h="1199788">
                <a:moveTo>
                  <a:pt x="0" y="0"/>
                </a:moveTo>
                <a:lnTo>
                  <a:pt x="1129301" y="0"/>
                </a:lnTo>
                <a:lnTo>
                  <a:pt x="1129301" y="1199789"/>
                </a:lnTo>
                <a:lnTo>
                  <a:pt x="0" y="11997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B2B5955-C6D5-80FE-78E4-BA12DA7EA415}"/>
              </a:ext>
            </a:extLst>
          </p:cNvPr>
          <p:cNvSpPr/>
          <p:nvPr/>
        </p:nvSpPr>
        <p:spPr>
          <a:xfrm rot="-941928">
            <a:off x="1052220" y="-256873"/>
            <a:ext cx="556999" cy="1068049"/>
          </a:xfrm>
          <a:custGeom>
            <a:avLst/>
            <a:gdLst/>
            <a:ahLst/>
            <a:cxnLst/>
            <a:rect l="l" t="t" r="r" b="b"/>
            <a:pathLst>
              <a:path w="835498" h="1602074">
                <a:moveTo>
                  <a:pt x="0" y="0"/>
                </a:moveTo>
                <a:lnTo>
                  <a:pt x="835498" y="0"/>
                </a:lnTo>
                <a:lnTo>
                  <a:pt x="835498" y="1602074"/>
                </a:lnTo>
                <a:lnTo>
                  <a:pt x="0" y="16020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57025FD-A7B9-C4D1-3150-06A198A24363}"/>
              </a:ext>
            </a:extLst>
          </p:cNvPr>
          <p:cNvSpPr/>
          <p:nvPr/>
        </p:nvSpPr>
        <p:spPr>
          <a:xfrm>
            <a:off x="10394773" y="-1561"/>
            <a:ext cx="567303" cy="557425"/>
          </a:xfrm>
          <a:custGeom>
            <a:avLst/>
            <a:gdLst/>
            <a:ahLst/>
            <a:cxnLst/>
            <a:rect l="l" t="t" r="r" b="b"/>
            <a:pathLst>
              <a:path w="850955" h="836137">
                <a:moveTo>
                  <a:pt x="0" y="0"/>
                </a:moveTo>
                <a:lnTo>
                  <a:pt x="850955" y="0"/>
                </a:lnTo>
                <a:lnTo>
                  <a:pt x="850955" y="836138"/>
                </a:lnTo>
                <a:lnTo>
                  <a:pt x="0" y="83613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 marL="0" marR="0" lvl="0" indent="0" algn="l" defTabSz="6096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916585BE-0F6D-AFEB-A064-31CD8F7F6F7B}"/>
              </a:ext>
            </a:extLst>
          </p:cNvPr>
          <p:cNvSpPr txBox="1"/>
          <p:nvPr/>
        </p:nvSpPr>
        <p:spPr>
          <a:xfrm>
            <a:off x="2044664" y="635779"/>
            <a:ext cx="7777933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35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Mokoto"/>
                <a:cs typeface="Mokoto"/>
                <a:sym typeface="Mokoto"/>
              </a:rPr>
              <a:t>The Problem Statement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 panose="020B0503030202060203" pitchFamily="34" charset="0"/>
              <a:ea typeface="Mokoto"/>
              <a:cs typeface="Mokoto"/>
              <a:sym typeface="Mokot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51240D-AC77-DE1B-EA73-BEE86CF6B067}"/>
              </a:ext>
            </a:extLst>
          </p:cNvPr>
          <p:cNvSpPr txBox="1"/>
          <p:nvPr/>
        </p:nvSpPr>
        <p:spPr>
          <a:xfrm>
            <a:off x="589244" y="4531578"/>
            <a:ext cx="39769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500" b="0" i="1" u="none" strike="noStrike" kern="1200" cap="none" spc="0" normalizeH="0" baseline="0" noProof="0" dirty="0">
                <a:ln>
                  <a:noFill/>
                </a:ln>
                <a:solidFill>
                  <a:srgbClr val="BE82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Using Python, SQL &amp; Power BI: perform exploratory data analysis, and visualisation. You have between 2</a:t>
            </a:r>
            <a:r>
              <a:rPr kumimoji="0" lang="en-GB" sz="1500" b="0" i="1" u="none" strike="noStrike" kern="1200" cap="none" spc="0" normalizeH="0" baseline="30000" noProof="0" dirty="0">
                <a:ln>
                  <a:noFill/>
                </a:ln>
                <a:solidFill>
                  <a:srgbClr val="BE82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nd</a:t>
            </a:r>
            <a:r>
              <a:rPr kumimoji="0" lang="en-GB" sz="1500" b="0" i="1" u="none" strike="noStrike" kern="1200" cap="none" spc="0" normalizeH="0" baseline="0" noProof="0" dirty="0">
                <a:ln>
                  <a:noFill/>
                </a:ln>
                <a:solidFill>
                  <a:srgbClr val="BE82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June – 19</a:t>
            </a:r>
            <a:r>
              <a:rPr kumimoji="0" lang="en-GB" sz="1500" b="0" i="1" u="none" strike="noStrike" kern="1200" cap="none" spc="0" normalizeH="0" baseline="30000" noProof="0" dirty="0">
                <a:ln>
                  <a:noFill/>
                </a:ln>
                <a:solidFill>
                  <a:srgbClr val="BE82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th</a:t>
            </a:r>
            <a:r>
              <a:rPr kumimoji="0" lang="en-GB" sz="1500" b="0" i="1" u="none" strike="noStrike" kern="1200" cap="none" spc="0" normalizeH="0" baseline="0" noProof="0" dirty="0">
                <a:ln>
                  <a:noFill/>
                </a:ln>
                <a:solidFill>
                  <a:srgbClr val="BE82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 June </a:t>
            </a:r>
            <a:r>
              <a:rPr kumimoji="0" lang="en-GB" sz="15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to complete this analysis.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5A5FC-8D05-B23F-B3B7-4FF5C0531492}"/>
              </a:ext>
            </a:extLst>
          </p:cNvPr>
          <p:cNvSpPr txBox="1"/>
          <p:nvPr/>
        </p:nvSpPr>
        <p:spPr>
          <a:xfrm>
            <a:off x="5097021" y="1505334"/>
            <a:ext cx="6505735" cy="4263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  <a:t>Scenario Overview:</a:t>
            </a:r>
            <a:r>
              <a:rPr kumimoji="0" lang="en-GB" sz="1800" b="0" i="0" u="none" strike="noStrike" kern="1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kumimoji="0" lang="en-GB" sz="1400" b="0" i="0" u="none" strike="noStrike" kern="100" cap="none" spc="0" normalizeH="0" baseline="0" noProof="0" dirty="0">
              <a:ln>
                <a:noFill/>
              </a:ln>
              <a:solidFill>
                <a:srgbClr val="F79646">
                  <a:lumMod val="75000"/>
                </a:srgbClr>
              </a:solidFill>
              <a:effectLst/>
              <a:uLnTx/>
              <a:uFillTx/>
              <a:latin typeface="Calibri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  <a:t>In recent years, Mercedes has established itself as the dominant force in Formula 1 (F1), consistently outperforming competitors in speed, strategy, and reliability.</a:t>
            </a:r>
            <a:r>
              <a:rPr kumimoji="0" lang="en-GB" sz="1600" b="0" i="0" u="none" strike="noStrike" kern="1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  <a:t> As McLaren gears up for the highly competitive 2025 F1 season, it is critical to understand the underlying factors driving Mercedes’ sustained success — and identify actionable insights to close the gap</a:t>
            </a:r>
            <a:r>
              <a:rPr kumimoji="0" lang="en-GB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  <a:t>.  </a:t>
            </a:r>
            <a:endParaRPr kumimoji="0" lang="en-GB" sz="14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00" cap="none" spc="0" normalizeH="0" baseline="0" noProof="0" dirty="0">
                <a:ln>
                  <a:noFill/>
                </a:ln>
                <a:solidFill>
                  <a:srgbClr val="F79646">
                    <a:lumMod val="75000"/>
                  </a:srgbClr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br>
              <a:rPr kumimoji="0" lang="en-GB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kumimoji="0" lang="en-GB" sz="1600" b="0" i="0" u="none" strike="noStrike" kern="1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  <a:t>As a Machine Learning Engineer at McLaren, your mission is to leverage historical race data, driver performance metrics, team statistics, and competitor insights to</a:t>
            </a:r>
            <a:r>
              <a:rPr kumimoji="0" lang="en-GB" sz="1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Aptos" panose="020B0004020202020204" pitchFamily="34" charset="0"/>
                <a:cs typeface="Times New Roman" panose="02020603050405020304" pitchFamily="18" charset="0"/>
              </a:rPr>
              <a:t> provide actionable recommendations and uncover the key variables contributing to Mercedes’ dominance. This analysis will inform McLaren’s strategy moving forward and help develop a report for sponsors and shareholders. </a:t>
            </a:r>
            <a:endParaRPr kumimoji="0" lang="en-GB" sz="1400" b="0" i="0" u="none" strike="noStrike" kern="1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8" name="Picture 7" descr="Woman using tablet standing in front of digital display">
            <a:extLst>
              <a:ext uri="{FF2B5EF4-FFF2-40B4-BE49-F238E27FC236}">
                <a16:creationId xmlns:a16="http://schemas.microsoft.com/office/drawing/2014/main" id="{7C06EEAB-A9EC-ADE4-99E2-66A8C409D4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44" y="1627369"/>
            <a:ext cx="3976925" cy="265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8707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62816D9-8987-BBEE-9DA0-0CA15EF6A5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6200984"/>
              </p:ext>
            </p:extLst>
          </p:nvPr>
        </p:nvGraphicFramePr>
        <p:xfrm>
          <a:off x="745670" y="1597024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29">
            <a:extLst>
              <a:ext uri="{FF2B5EF4-FFF2-40B4-BE49-F238E27FC236}">
                <a16:creationId xmlns:a16="http://schemas.microsoft.com/office/drawing/2014/main" id="{C6DEB10A-DACE-5E43-71B7-0CD7D836AC65}"/>
              </a:ext>
            </a:extLst>
          </p:cNvPr>
          <p:cNvSpPr txBox="1"/>
          <p:nvPr/>
        </p:nvSpPr>
        <p:spPr>
          <a:xfrm>
            <a:off x="2114504" y="396294"/>
            <a:ext cx="7777933" cy="419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609630" rtl="0" eaLnBrk="1" fontAlgn="auto" latinLnBrk="0" hangingPunct="1">
              <a:lnSpc>
                <a:spcPts val="359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800" b="1" dirty="0">
                <a:solidFill>
                  <a:prstClr val="white"/>
                </a:solidFill>
                <a:latin typeface="Graphik" panose="020B0503030202060203" pitchFamily="34" charset="0"/>
                <a:ea typeface="Mokoto"/>
                <a:cs typeface="Mokoto"/>
                <a:sym typeface="Mokoto"/>
              </a:rPr>
              <a:t>All F1 teams strive for 3 main goals*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phik" panose="020B0503030202060203" pitchFamily="34" charset="0"/>
              <a:ea typeface="Mokoto"/>
              <a:cs typeface="Mokoto"/>
              <a:sym typeface="Mokoto"/>
            </a:endParaRPr>
          </a:p>
        </p:txBody>
      </p:sp>
    </p:spTree>
    <p:extLst>
      <p:ext uri="{BB962C8B-B14F-4D97-AF65-F5344CB8AC3E}">
        <p14:creationId xmlns:p14="http://schemas.microsoft.com/office/powerpoint/2010/main" val="2133670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BC012-B698-0CF0-F061-BDC6CF5D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Solution approach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A3DE8-6262-D1F2-D547-3B9D3F065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Using Python to do EDA </a:t>
            </a:r>
          </a:p>
          <a:p>
            <a:r>
              <a:rPr lang="en-GB" dirty="0"/>
              <a:t>Snowflake to run SQL queries and produce source data for </a:t>
            </a:r>
            <a:r>
              <a:rPr lang="en-GB" dirty="0" err="1"/>
              <a:t>PowerBI</a:t>
            </a:r>
            <a:endParaRPr lang="en-GB" dirty="0"/>
          </a:p>
          <a:p>
            <a:r>
              <a:rPr lang="en-GB" dirty="0" err="1"/>
              <a:t>PowerBI</a:t>
            </a:r>
            <a:r>
              <a:rPr lang="en-GB" dirty="0"/>
              <a:t> to visualise key performance indicators</a:t>
            </a:r>
          </a:p>
          <a:p>
            <a:pPr lvl="1"/>
            <a:r>
              <a:rPr lang="en-GB" dirty="0"/>
              <a:t>Driver points</a:t>
            </a:r>
          </a:p>
          <a:p>
            <a:pPr lvl="1"/>
            <a:r>
              <a:rPr lang="en-GB" dirty="0"/>
              <a:t>Comparative analysis of Qualifying, Race end positions and Points between two constructors Mclaren and Mercedes</a:t>
            </a:r>
          </a:p>
          <a:p>
            <a:pPr lvl="1"/>
            <a:r>
              <a:rPr lang="en-GB" dirty="0"/>
              <a:t>Comparative analysis of top car faults between 2 constructors</a:t>
            </a:r>
          </a:p>
        </p:txBody>
      </p:sp>
    </p:spTree>
    <p:extLst>
      <p:ext uri="{BB962C8B-B14F-4D97-AF65-F5344CB8AC3E}">
        <p14:creationId xmlns:p14="http://schemas.microsoft.com/office/powerpoint/2010/main" val="112832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FC09A-AF08-C838-F18B-A32DF172D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effectLst/>
              </a:rPr>
              <a:t>Process for Strategic Evaluation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C8531-FD42-76A9-D05F-325AE3FAC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GB" dirty="0">
                <a:effectLst/>
              </a:rPr>
              <a:t>1.Recognise key metrics affecting results</a:t>
            </a:r>
          </a:p>
          <a:p>
            <a:pPr>
              <a:buNone/>
            </a:pPr>
            <a:r>
              <a:rPr lang="en-GB" dirty="0">
                <a:effectLst/>
              </a:rPr>
              <a:t>1.Lap times</a:t>
            </a:r>
          </a:p>
          <a:p>
            <a:pPr>
              <a:buNone/>
            </a:pPr>
            <a:r>
              <a:rPr lang="en-GB" dirty="0">
                <a:effectLst/>
              </a:rPr>
              <a:t>2.Pitstops</a:t>
            </a:r>
          </a:p>
          <a:p>
            <a:pPr>
              <a:buNone/>
            </a:pPr>
            <a:r>
              <a:rPr lang="en-GB" dirty="0">
                <a:effectLst/>
              </a:rPr>
              <a:t>2.Evaluate strategy by benchmarking competitors</a:t>
            </a:r>
          </a:p>
          <a:p>
            <a:pPr>
              <a:buNone/>
            </a:pPr>
            <a:r>
              <a:rPr lang="en-GB" dirty="0">
                <a:effectLst/>
              </a:rPr>
              <a:t>3.Develop actionable recommendations</a:t>
            </a:r>
          </a:p>
          <a:p>
            <a:r>
              <a:rPr lang="en-GB" dirty="0">
                <a:effectLst/>
              </a:rPr>
              <a:t>4.Forecast outcomes based on recommendations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9876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272</TotalTime>
  <Words>347</Words>
  <Application>Microsoft Office PowerPoint</Application>
  <PresentationFormat>Widescreen</PresentationFormat>
  <Paragraphs>29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Graphik</vt:lpstr>
      <vt:lpstr>Office Theme</vt:lpstr>
      <vt:lpstr>Team 13 - Datathon</vt:lpstr>
      <vt:lpstr>PowerPoint Presentation</vt:lpstr>
      <vt:lpstr>PowerPoint Presentation</vt:lpstr>
      <vt:lpstr>Solution approach summary</vt:lpstr>
      <vt:lpstr>Process for Strategic Evaluation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Nguyen, Han</dc:creator>
  <cp:lastModifiedBy>Nguyen, Han</cp:lastModifiedBy>
  <cp:revision>2</cp:revision>
  <dcterms:created xsi:type="dcterms:W3CDTF">2025-06-10T10:46:29Z</dcterms:created>
  <dcterms:modified xsi:type="dcterms:W3CDTF">2025-06-27T16:42:14Z</dcterms:modified>
</cp:coreProperties>
</file>